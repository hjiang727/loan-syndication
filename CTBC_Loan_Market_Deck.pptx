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Calibri"/>
              </a:rPr>
              <a:t>Contract prices, quarter-on-quarter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QoQ contract price change (%)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3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DRAM Q1'26</c:v>
                  </c:pt>
                  <c:pt idx="1">
                    <c:v>NAND Q2'26</c:v>
                  </c:pt>
                  <c:pt idx="2">
                    <c:v>DRAM Q2'26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95</c:v>
                </c:pt>
                <c:pt idx="1">
                  <c:v>72</c:v>
                </c:pt>
                <c:pt idx="2">
                  <c:v>60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321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B2E4F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0B2E4F"/>
                </a:solidFill>
                <a:latin typeface="Calibri"/>
              </a:rPr>
              <a:t>US$bn raised by the chip sector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Asia semis loan volume (US$bn)</c:v>
                </c:pt>
              </c:strCache>
            </c:strRef>
          </c:tx>
          <c:spPr>
            <a:solidFill>
              <a:srgbClr val="0B2E4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13212E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2E4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2025 (full year)</c:v>
                  </c:pt>
                  <c:pt idx="1">
                    <c:v>2026 (on track)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3.4</c:v>
                </c:pt>
                <c:pt idx="1">
                  <c:v>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13212E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"/>
          <c:min val="0"/>
        </c:scaling>
        <c:delete val="0"/>
        <c:axPos val="l"/>
        <c:majorGridlines>
          <c:spPr>
            <a:ln w="6350" cap="flat">
              <a:solidFill>
                <a:srgbClr val="EAEF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566928" y="914400"/>
            <a:ext cx="1005840" cy="10058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914400"/>
            <a:ext cx="1005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CTBC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66928" y="22860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CTBC BANK   ·   INTERNSHIP BRIEFING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66928" y="269748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boom drives Taiwan lending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66928" y="388620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Asia-Pacific syndicated loan market — and what it means for CTBC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66928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US$7.6bn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6928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Asia semis loan volume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72968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NT$80bn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72968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ASE's twin facilities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779008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+124%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5779008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2025 (US$3.4bn)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385048" y="48920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40–300bp+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85048" y="53492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range in the report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" y="630936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IFR / LSEG LPC Asia-Pacific syndicated loans roundup  ·  June 2026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happening, in one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68580" cy="1600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276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US$7.6bn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49808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Asia semiconductor loan volume — more than double 2025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79392" y="150876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279392" y="1508760"/>
            <a:ext cx="68580" cy="160020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0" name="Text 8"/>
          <p:cNvSpPr/>
          <p:nvPr/>
        </p:nvSpPr>
        <p:spPr>
          <a:xfrm>
            <a:off x="4443984" y="16276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NT$80bn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462272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Technology's two new facilities (US$2.52bn) — the single biggest draw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91856" y="1508760"/>
            <a:ext cx="352044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991856" y="1508760"/>
            <a:ext cx="68580" cy="16002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4" name="Text 12"/>
          <p:cNvSpPr/>
          <p:nvPr/>
        </p:nvSpPr>
        <p:spPr>
          <a:xfrm>
            <a:off x="8156448" y="1627632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+95%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8174736" y="228600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DRAM contract-price jump in Q1 2026 (QoQ)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things to take away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922776"/>
            <a:ext cx="310896" cy="310896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9227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024128" y="3886200"/>
            <a:ext cx="10597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demand is flowing down the entire chip chain.  </a:t>
            </a:r>
            <a:pPr indent="0" marL="0"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commodity memory makers everyone wrote off are now breakout winners rushing to borrow.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66928" y="4681728"/>
            <a:ext cx="310896" cy="310896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46817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24128" y="4645152"/>
            <a:ext cx="10597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Taiwanese banks are arranging it.  </a:t>
            </a:r>
            <a:pPr indent="0" marL="0"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home-field advantage for CTBC — Taiwanese borrowers, Taiwanese lead banks.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66928" y="5440680"/>
            <a:ext cx="310896" cy="310896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54406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24128" y="5404104"/>
            <a:ext cx="1059789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desk's real question: is H2 the tipping point?  </a:t>
            </a:r>
            <a:pPr indent="0" marL="0">
              <a:buNone/>
            </a:pPr>
            <a:r>
              <a:rPr lang="en-US" sz="13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Borrowers want flat-to-lower pricing; everyone is scrambling for cash at once; lead banks are pushing deals out fast.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IFR “AI boom drives Taiwan lending”; LSEG LPC.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to read a syndicated loan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syndicated loan is one big loan funded by a group of banks. Decode one deal entry and you can read them all.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66928" y="1874520"/>
            <a:ext cx="548640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1874520"/>
            <a:ext cx="68580" cy="41605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95528" y="20116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bank roles (the hierarchy)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3816" y="2496312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2450592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MLAB — </a:t>
            </a:r>
            <a:pPr indent="0" marL="0">
              <a:buNone/>
            </a:pPr>
            <a:r>
              <a:rPr lang="en-US" sz="11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Mandated Lead Arranger &amp; Bookrunner — structures the deal and runs the book. The prestigious, fee-rich seat CTBC competes for.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813816" y="3346704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24128" y="3300984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 / Arranger — </a:t>
            </a:r>
            <a:pPr indent="0" marL="0">
              <a:buNone/>
            </a:pPr>
            <a:r>
              <a:rPr lang="en-US" sz="11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tiers — your title and fee scale with how much you commit.</a:t>
            </a:r>
            <a:endParaRPr lang="en-US" sz="1180" dirty="0"/>
          </a:p>
        </p:txBody>
      </p:sp>
      <p:sp>
        <p:nvSpPr>
          <p:cNvPr id="12" name="Shape 10"/>
          <p:cNvSpPr/>
          <p:nvPr/>
        </p:nvSpPr>
        <p:spPr>
          <a:xfrm>
            <a:off x="813816" y="419709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1024128" y="4151376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/ Agent — </a:t>
            </a:r>
            <a:pPr indent="0" marL="0">
              <a:buNone/>
            </a:pPr>
            <a:r>
              <a:rPr lang="en-US" sz="11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syndication / administers the loan after signing.</a:t>
            </a:r>
            <a:endParaRPr lang="en-US" sz="1180" dirty="0"/>
          </a:p>
        </p:txBody>
      </p:sp>
      <p:sp>
        <p:nvSpPr>
          <p:cNvPr id="14" name="Shape 12"/>
          <p:cNvSpPr/>
          <p:nvPr/>
        </p:nvSpPr>
        <p:spPr>
          <a:xfrm>
            <a:off x="813816" y="504748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1024128" y="5001768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8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Underwriter — </a:t>
            </a:r>
            <a:pPr indent="0" marL="0">
              <a:buNone/>
            </a:pPr>
            <a:r>
              <a:rPr lang="en-US" sz="118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the amount even if other banks don't show up — more risk, more fee.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327648" y="1874520"/>
            <a:ext cx="5294376" cy="41605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56248" y="2011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terms you'll see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56248" y="243230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slice of a loan with its own terms / currency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6556248" y="28666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/ bp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above a benchmark; 100bp = 1.00% (“155bp over SOFR”)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6556248" y="330098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All-in pricing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+ annualised fees = a lender's total yield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556248" y="373532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Tenor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length of the loan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6556248" y="416966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Greenshoe / accordion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to upsize the loan if demand is strong</a:t>
            </a:r>
            <a:endParaRPr lang="en-US" sz="1130" dirty="0"/>
          </a:p>
        </p:txBody>
      </p:sp>
      <p:sp>
        <p:nvSpPr>
          <p:cNvPr id="23" name="Text 21"/>
          <p:cNvSpPr/>
          <p:nvPr/>
        </p:nvSpPr>
        <p:spPr>
          <a:xfrm>
            <a:off x="6556248" y="460400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Floor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minimum rate even if the benchmark falls (e.g. 1.7%)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6556248" y="503834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SLL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Sustainability-Linked Loan — pricing steps down on ESG targets</a:t>
            </a:r>
            <a:endParaRPr lang="en-US" sz="1130" dirty="0"/>
          </a:p>
        </p:txBody>
      </p:sp>
      <p:sp>
        <p:nvSpPr>
          <p:cNvPr id="25" name="Text 23"/>
          <p:cNvSpPr/>
          <p:nvPr/>
        </p:nvSpPr>
        <p:spPr>
          <a:xfrm>
            <a:off x="6556248" y="5472684"/>
            <a:ext cx="5120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3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 </a:t>
            </a:r>
            <a:pPr indent="0" marL="0">
              <a:buNone/>
            </a:pPr>
            <a:r>
              <a:rPr lang="en-US" sz="113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SOFR (USD), Taibor (TWD), Hibor (HKD), Euribor (EUR)…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example in the written briefing decodes Goldkey's NT$3bn debut line term-by-term.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whole chip chain is borrowing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63040"/>
          <a:ext cx="11055096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3017520"/>
                <a:gridCol w="2907792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Borrower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 in the chain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 in the report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signals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E4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ASE Technology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chip packaging &amp; test (OSAT)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NT$80bn, two facilities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Biggest draw; funds record ~US$7bn capex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Macronix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Commodity / NOR memory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NT$20bn 5y + NT$6.7bn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“Walking dead” to minting money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Phison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NAND controller chips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NT$12bn debut + US$800m CB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profit +1,200% YoY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Adata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modules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NT$12bn 5y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 Q1 profit, +17× YoY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Giga Computing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servers (Gigabyte arm)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NT$35bn 5y debut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Wave reaches the box-builders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WT Microelectronics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Largest chip distributor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NT$36bn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 distribution needs more capital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 Hai / Foxconn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 contract electronics maker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NT$36bn 3y SLL, 14 banks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40" dirty="0">
                          <a:solidFill>
                            <a:srgbClr val="1321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Cash-rich — and still chose to borrow</a:t>
                      </a:r>
                      <a:endParaRPr lang="en-US" sz="114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4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even the famously cash-rich (Foxconn) make their loan-market debut, capex needs are genuinely large.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SUB-THEME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Memory: from “walking dead” to minting money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56692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556248" y="1554480"/>
            <a:ext cx="5065776" cy="429768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556248" y="1554480"/>
            <a:ext cx="68580" cy="429768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7" name="Text 4"/>
          <p:cNvSpPr/>
          <p:nvPr/>
        </p:nvSpPr>
        <p:spPr>
          <a:xfrm>
            <a:off x="6830568" y="1737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mechanism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830568" y="2194560"/>
            <a:ext cx="4526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Samsung, SK Hynix and Micron have shifted the bulk of capacity to </a:t>
            </a:r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HBM</a:t>
            </a:r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AI GPUs — starving the market of conventional DRAM and NAND, and spiking prices to the deepest deficits since 2011.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830568" y="3611880"/>
            <a:ext cx="452628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830568" y="374904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Macronix, in one 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830568" y="4069080"/>
            <a:ext cx="4526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straight loss-making quarters</a:t>
            </a:r>
            <a:pPr indent="0" marL="0">
              <a:buNone/>
            </a:pPr>
            <a:r>
              <a:rPr lang="en-US" sz="13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indent="0" marL="0">
              <a:buNone/>
            </a:pPr>
            <a:r>
              <a:rPr lang="en-US" sz="1300" b="1" dirty="0">
                <a:solidFill>
                  <a:srgbClr val="1F7A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NT$1.77bn Q1 profit</a:t>
            </a:r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Gross margin leapt to 40.8% from a 17.8% 2025 average — then it mandated a NT$20bn loan to expand.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the source report; TrendForce / industry trackers. Memory is the most cyclical credit in semis — today's strength was yesterday's weakness.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Semiconductor loan volume has more than doubled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66928" y="1554480"/>
          <a:ext cx="54864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19088" y="1554480"/>
            <a:ext cx="5202936" cy="4297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6419088" y="1554480"/>
            <a:ext cx="68580" cy="4297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4"/>
          <p:cNvSpPr/>
          <p:nvPr/>
        </p:nvSpPr>
        <p:spPr>
          <a:xfrm>
            <a:off x="6693408" y="1783080"/>
            <a:ext cx="5029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US$7.6bn</a:t>
            </a:r>
            <a:endParaRPr lang="en-US" sz="3400" dirty="0"/>
          </a:p>
        </p:txBody>
      </p:sp>
      <p:sp>
        <p:nvSpPr>
          <p:cNvPr id="8" name="Text 5"/>
          <p:cNvSpPr/>
          <p:nvPr/>
        </p:nvSpPr>
        <p:spPr>
          <a:xfrm>
            <a:off x="6693408" y="2432304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 in 2026 — +124% vs 2025's US$3.4bn (LSEG LPC).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93408" y="3063240"/>
            <a:ext cx="5074920" cy="0"/>
          </a:xfrm>
          <a:prstGeom prst="line">
            <a:avLst/>
          </a:prstGeom>
          <a:noFill/>
          <a:ln w="12700">
            <a:solidFill>
              <a:srgbClr val="DDE4E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693408" y="32004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ASE's NT$80bn fits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93408" y="3566160"/>
            <a:ext cx="50749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chain is simple: AI compute demand → CoWoS/packaging shortage → ASE roughly triples capacity → ASE borrows NT$80bn → CTBC and peers compete to lead it. NT$80bn is the loan footprint of a physical build-out.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LSEG LPC; company reporting.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ASE: the “new gatekeeper of AI”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5509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ASE is the world's largest 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OSAT</a:t>
            </a:r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Outsourced Semiconductor Assembly &amp; Test. After a foundry etches a chip, ASE </a:t>
            </a:r>
            <a:pPr indent="0" marL="0">
              <a:buNone/>
            </a:pPr>
            <a:r>
              <a:rPr lang="en-US" sz="14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</a:t>
            </a:r>
            <a:pPr indent="0" marL="0">
              <a:buNone/>
            </a:pPr>
            <a:r>
              <a:rPr lang="en-US" sz="14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</a:t>
            </a:r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it. For AI accelerators, advanced packaging (</a:t>
            </a:r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CoWoS</a:t>
            </a:r>
            <a:pPr indent="0" marL="0">
              <a:buNone/>
            </a:pPr>
            <a:r>
              <a:rPr lang="en-US" sz="14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that marries a GPU to its HBM stacks is the bottleneck — no longer a boring back-end.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66928" y="2514600"/>
            <a:ext cx="68580" cy="169164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~US$7bn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749808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2026 capex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64992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4992" y="2514600"/>
            <a:ext cx="68580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~3×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3547872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CoWoS-equiv. capacity expansion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63056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63056" y="2514600"/>
            <a:ext cx="68580" cy="1691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345936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~US$3.2bn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345936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Advanced-packaging revenue (roughly doubling)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961120" y="2514600"/>
            <a:ext cx="265176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961120" y="2514600"/>
            <a:ext cx="68580" cy="169164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0" y="269748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B779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plants</a:t>
            </a:r>
            <a:endParaRPr lang="en-US" sz="2500" dirty="0"/>
          </a:p>
        </p:txBody>
      </p:sp>
      <p:sp>
        <p:nvSpPr>
          <p:cNvPr id="20" name="Text 18"/>
          <p:cNvSpPr/>
          <p:nvPr/>
        </p:nvSpPr>
        <p:spPr>
          <a:xfrm>
            <a:off x="9144000" y="32918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Largest-ever expansion, for Nvidia &amp; AMD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66928" y="4526280"/>
            <a:ext cx="11055096" cy="1371600"/>
          </a:xfrm>
          <a:prstGeom prst="rect">
            <a:avLst/>
          </a:prstGeom>
          <a:solidFill>
            <a:srgbClr val="0B2E4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841248" y="4681728"/>
            <a:ext cx="105064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teaching point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41248" y="5029200"/>
            <a:ext cx="10506456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compute demand  →  CoWoS/packaging shortage  →  ASE triples capacity  →  ASE borrows NT$80bn  →  banks compete to lead it.  ASE is the worked example of this whole briefing.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FinancialContent, EE Times Asia, TrendForce (ASE 2026 capex &amp; packaging).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Beyond Taiwan: a busy, more “normal” market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68580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0078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Australia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49808" y="212140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 Hall REIT A$2bn refi; Frontier Energy solar+battery project finance (20y)</a:t>
            </a:r>
            <a:endParaRPr lang="en-US" sz="1160" dirty="0"/>
          </a:p>
        </p:txBody>
      </p:sp>
      <p:sp>
        <p:nvSpPr>
          <p:cNvPr id="8" name="Shape 6"/>
          <p:cNvSpPr/>
          <p:nvPr/>
        </p:nvSpPr>
        <p:spPr>
          <a:xfrm>
            <a:off x="3376422" y="155448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76422" y="1554480"/>
            <a:ext cx="68580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3559302" y="170078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559302" y="212140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Sinopec refi; China Gas US$400m at tighter pricing; H&amp;H US$390m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6185916" y="155448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85916" y="1554480"/>
            <a:ext cx="68580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368796" y="170078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Hong Kong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68796" y="212140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SHKP upsized to HK$20bn (from HK$5bn), 16 banks, ~70bp — blue-chip demand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8995410" y="155448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995410" y="1554480"/>
            <a:ext cx="68580" cy="20116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9178290" y="170078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Japan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9178290" y="212140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Bain's FineToday LBO ¥100bn+ at &gt;6× EBITDA; Delfin floating-LNG US$3.6bn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566928" y="379476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66928" y="3794760"/>
            <a:ext cx="68580" cy="20116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2" name="Text 20"/>
          <p:cNvSpPr/>
          <p:nvPr/>
        </p:nvSpPr>
        <p:spPr>
          <a:xfrm>
            <a:off x="749808" y="394106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Malaysia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749808" y="436168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DayOne data centres ~US$3.7bn for 656MW Johor — the AI build-out, exported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3376422" y="379476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376422" y="3794760"/>
            <a:ext cx="68580" cy="20116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26" name="Text 24"/>
          <p:cNvSpPr/>
          <p:nvPr/>
        </p:nvSpPr>
        <p:spPr>
          <a:xfrm>
            <a:off x="3559302" y="394106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Vietnam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3559302" y="436168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VPBank US$1.44bn SLL (19 banks); HDBank US$721m — Taiwan banks in the leads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6185916" y="379476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85916" y="3794760"/>
            <a:ext cx="68580" cy="20116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0" name="Text 28"/>
          <p:cNvSpPr/>
          <p:nvPr/>
        </p:nvSpPr>
        <p:spPr>
          <a:xfrm>
            <a:off x="6368796" y="394106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Korea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6368796" y="436168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KDB US$300m at tighter pricing — the strong-credit benchmark</a:t>
            </a:r>
            <a:endParaRPr lang="en-US" sz="1160" dirty="0"/>
          </a:p>
        </p:txBody>
      </p:sp>
      <p:sp>
        <p:nvSpPr>
          <p:cNvPr id="32" name="Shape 30"/>
          <p:cNvSpPr/>
          <p:nvPr/>
        </p:nvSpPr>
        <p:spPr>
          <a:xfrm>
            <a:off x="8995410" y="3794760"/>
            <a:ext cx="2626614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995410" y="3794760"/>
            <a:ext cx="68580" cy="201168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34" name="Text 32"/>
          <p:cNvSpPr/>
          <p:nvPr/>
        </p:nvSpPr>
        <p:spPr>
          <a:xfrm>
            <a:off x="9178290" y="3941064"/>
            <a:ext cx="230657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Macau / NZ / SG</a:t>
            </a:r>
            <a:endParaRPr lang="en-US" sz="1450" dirty="0"/>
          </a:p>
        </p:txBody>
      </p:sp>
      <p:sp>
        <p:nvSpPr>
          <p:cNvPr id="35" name="Text 33"/>
          <p:cNvSpPr/>
          <p:nvPr/>
        </p:nvSpPr>
        <p:spPr>
          <a:xfrm>
            <a:off x="9178290" y="4361688"/>
            <a:ext cx="2306574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6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Melco A&amp;E to 2031; Synlait refi; Seaspan US$450m revolver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Outside the Taiwan chip frenzy: refinancings, property, project finance, LBOs — with pricing generally flat-to-tighter for strong credits.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SEAT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CTBC sits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08760"/>
            <a:ext cx="548640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08760"/>
            <a:ext cx="68580" cy="32461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6459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this report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3816" y="214884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1024128" y="2103120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JMX Consumer Finance (China) —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Rmb620m — CTBC co-owns the borrower (JV with Xiamen Jinyuan).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3816" y="299008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1024128" y="2944368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Macquarie Bank Europe —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€200m — CTBC as sole MLAB.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3816" y="383133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3785616"/>
            <a:ext cx="48463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VPBank / HDBank (Vietnam) —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CTBC in the lead groups on US$1.44bn &amp; US$721m deals.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327648" y="1508760"/>
            <a:ext cx="5294376" cy="324612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27648" y="1508760"/>
            <a:ext cx="68580" cy="3246120"/>
          </a:xfrm>
          <a:prstGeom prst="rect">
            <a:avLst/>
          </a:prstGeom>
          <a:solidFill>
            <a:srgbClr val="0B2E4F"/>
          </a:solidFill>
          <a:ln/>
        </p:spPr>
      </p:sp>
      <p:sp>
        <p:nvSpPr>
          <p:cNvPr id="15" name="Text 13"/>
          <p:cNvSpPr/>
          <p:nvPr/>
        </p:nvSpPr>
        <p:spPr>
          <a:xfrm>
            <a:off x="6556248" y="16459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Wider franchise (context)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574536" y="2148840"/>
            <a:ext cx="118872" cy="118872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7" name="Text 15"/>
          <p:cNvSpPr/>
          <p:nvPr/>
        </p:nvSpPr>
        <p:spPr>
          <a:xfrm>
            <a:off x="6784848" y="210312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 “Taiwan Loan House” —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active arranger in Taiwan's domestic market.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574536" y="2990088"/>
            <a:ext cx="118872" cy="118872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19" name="Text 17"/>
          <p:cNvSpPr/>
          <p:nvPr/>
        </p:nvSpPr>
        <p:spPr>
          <a:xfrm>
            <a:off x="6784848" y="2944368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Supermicro's first Taiwan loan —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CTBC led the ~US$1.765bn debut (Feb 2026) — an AI name choosing CTBC.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74536" y="3831336"/>
            <a:ext cx="118872" cy="118872"/>
          </a:xfrm>
          <a:prstGeom prst="ellipse">
            <a:avLst/>
          </a:prstGeom>
          <a:solidFill>
            <a:srgbClr val="0B2E4F"/>
          </a:solidFill>
          <a:ln/>
        </p:spPr>
      </p:sp>
      <p:sp>
        <p:nvSpPr>
          <p:cNvPr id="21" name="Text 19"/>
          <p:cNvSpPr/>
          <p:nvPr/>
        </p:nvSpPr>
        <p:spPr>
          <a:xfrm>
            <a:off x="6784848" y="3785616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Taoyuan data-centre campus — </a:t>
            </a:r>
            <a:pPr indent="0" marL="0">
              <a:buNone/>
            </a:pPr>
            <a:r>
              <a:rPr lang="en-US" sz="120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MLAB with Bank SinoPac — but Taipower's power freeze caps appetite.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937760"/>
            <a:ext cx="11055096" cy="1051560"/>
          </a:xfrm>
          <a:prstGeom prst="rect">
            <a:avLst/>
          </a:prstGeom>
          <a:solidFill>
            <a:srgbClr val="0B2E4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41248" y="5102352"/>
            <a:ext cx="1050645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strategic question: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boom is concentrated in one sector, one geography, at the top of a cycle. CTBC has the best seat to win lead mandates — and the most concentration risk if it turns.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Tallied across the issue, CTBC's cross-border footprint is bigger than it first looks — sole MLAB on Macquarie Europe, a lead on VPBank and HDBank, plus owner of JMX.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the market prices risk: 40bp → 300bp+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1554480" cy="548640"/>
          </a:xfrm>
          <a:prstGeom prst="rect">
            <a:avLst/>
          </a:prstGeom>
          <a:solidFill>
            <a:srgbClr val="1F7A4D"/>
          </a:solidFill>
          <a:ln/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1600200"/>
            <a:ext cx="1417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40–51bp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04288" y="1600200"/>
            <a:ext cx="931773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/ prime banks — KDB (over SOFR)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2313432"/>
            <a:ext cx="2103120" cy="548640"/>
          </a:xfrm>
          <a:prstGeom prst="rect">
            <a:avLst/>
          </a:prstGeom>
          <a:solidFill>
            <a:srgbClr val="0D9488"/>
          </a:solidFill>
          <a:ln/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2313432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~70bp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52928" y="2313432"/>
            <a:ext cx="8769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Blue-chip property — SHKP (over Hibor)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3026664"/>
            <a:ext cx="4206240" cy="548640"/>
          </a:xfrm>
          <a:prstGeom prst="rect">
            <a:avLst/>
          </a:prstGeom>
          <a:solidFill>
            <a:srgbClr val="103D63"/>
          </a:solidFill>
          <a:ln/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" y="3026664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150–160bp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3026664"/>
            <a:ext cx="66659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 corporates &amp; strong banks — Seaspan, VIB, HDBank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6928" y="3739896"/>
            <a:ext cx="5120640" cy="548640"/>
          </a:xfrm>
          <a:prstGeom prst="rect">
            <a:avLst/>
          </a:prstGeom>
          <a:solidFill>
            <a:srgbClr val="B7791F"/>
          </a:solidFill>
          <a:ln/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8368" y="3739896"/>
            <a:ext cx="4983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185–190bp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870448" y="3739896"/>
            <a:ext cx="57515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banks / sub-IG — VPBank, TDB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453128"/>
            <a:ext cx="6766560" cy="548640"/>
          </a:xfrm>
          <a:prstGeom prst="rect">
            <a:avLst/>
          </a:prstGeom>
          <a:solidFill>
            <a:srgbClr val="B4232A"/>
          </a:solidFill>
          <a:ln/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4453128"/>
            <a:ext cx="6629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275–340bp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516368" y="4453128"/>
            <a:ext cx="410565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/ secured EM — China Tianying waste-to-energy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5166360"/>
            <a:ext cx="7589520" cy="548640"/>
          </a:xfrm>
          <a:prstGeom prst="rect">
            <a:avLst/>
          </a:prstGeom>
          <a:solidFill>
            <a:srgbClr val="B4232A"/>
          </a:solidFill>
          <a:ln/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" y="5166360"/>
            <a:ext cx="7452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300bp+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39328" y="5166360"/>
            <a:ext cx="32826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Leveraged buyout — Bain / FineToday (&gt;6× EBITDA)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66928" y="5943600"/>
            <a:ext cx="110550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Now: </a:t>
            </a:r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borrowers are pushing margins flat-to-lower (China Gas, KDB, SHKP all priced tighter).   </a:t>
            </a:r>
            <a:pPr indent="0" marL="0">
              <a:buNone/>
            </a:pPr>
            <a:r>
              <a:rPr lang="en-US" sz="125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But: </a:t>
            </a:r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everyone raises cash at once and banks hit sector caps, pricing could re-widen in H2.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100bp = 1.00%. Where margins are thin, lenders protect yield with rate floors, fees and security.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B423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could go wrong — Taiwan lens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554480"/>
            <a:ext cx="3550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554480"/>
            <a:ext cx="3550920" cy="82296"/>
          </a:xfrm>
          <a:prstGeom prst="rect">
            <a:avLst/>
          </a:prstGeom>
          <a:solidFill>
            <a:srgbClr val="B4232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755648"/>
            <a:ext cx="3185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AI-capex sustainability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157728" y="1773936"/>
            <a:ext cx="777240" cy="292608"/>
          </a:xfrm>
          <a:prstGeom prst="rect">
            <a:avLst/>
          </a:prstGeom>
          <a:solidFill>
            <a:srgbClr val="B4232A"/>
          </a:solidFill>
          <a:ln/>
        </p:spPr>
      </p:sp>
      <p:sp>
        <p:nvSpPr>
          <p:cNvPr id="8" name="Text 6"/>
          <p:cNvSpPr/>
          <p:nvPr/>
        </p:nvSpPr>
        <p:spPr>
          <a:xfrm>
            <a:off x="3157728" y="1773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395728"/>
            <a:ext cx="318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~US$660bn of 2026 hyperscaler capex grows ~80% while revenue grows ~15%. An April 2026 OpenAI leak already sparked a sell-off.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19016" y="1554480"/>
            <a:ext cx="3550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19016" y="1554480"/>
            <a:ext cx="3550920" cy="82296"/>
          </a:xfrm>
          <a:prstGeom prst="rect">
            <a:avLst/>
          </a:prstGeom>
          <a:solidFill>
            <a:srgbClr val="B4232A"/>
          </a:solidFill>
          <a:ln/>
        </p:spPr>
      </p:sp>
      <p:sp>
        <p:nvSpPr>
          <p:cNvPr id="12" name="Text 10"/>
          <p:cNvSpPr/>
          <p:nvPr/>
        </p:nvSpPr>
        <p:spPr>
          <a:xfrm>
            <a:off x="4501896" y="1755648"/>
            <a:ext cx="3185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cyclicality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909816" y="1773936"/>
            <a:ext cx="777240" cy="292608"/>
          </a:xfrm>
          <a:prstGeom prst="rect">
            <a:avLst/>
          </a:prstGeom>
          <a:solidFill>
            <a:srgbClr val="B4232A"/>
          </a:solidFill>
          <a:ln/>
        </p:spPr>
      </p:sp>
      <p:sp>
        <p:nvSpPr>
          <p:cNvPr id="14" name="Text 12"/>
          <p:cNvSpPr/>
          <p:nvPr/>
        </p:nvSpPr>
        <p:spPr>
          <a:xfrm>
            <a:off x="6909816" y="1773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01896" y="2395728"/>
            <a:ext cx="318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breakout borrowers are the most cyclical credits in semis — minting cash now, loss-making 18 months ago.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071104" y="1554480"/>
            <a:ext cx="3550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71104" y="1554480"/>
            <a:ext cx="3550920" cy="82296"/>
          </a:xfrm>
          <a:prstGeom prst="rect">
            <a:avLst/>
          </a:prstGeom>
          <a:solidFill>
            <a:srgbClr val="B4232A"/>
          </a:solidFill>
          <a:ln/>
        </p:spPr>
      </p:sp>
      <p:sp>
        <p:nvSpPr>
          <p:cNvPr id="18" name="Text 16"/>
          <p:cNvSpPr/>
          <p:nvPr/>
        </p:nvSpPr>
        <p:spPr>
          <a:xfrm>
            <a:off x="8253984" y="1755648"/>
            <a:ext cx="3185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risk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10661904" y="1773936"/>
            <a:ext cx="777240" cy="292608"/>
          </a:xfrm>
          <a:prstGeom prst="rect">
            <a:avLst/>
          </a:prstGeom>
          <a:solidFill>
            <a:srgbClr val="B4232A"/>
          </a:solidFill>
          <a:ln/>
        </p:spPr>
      </p:sp>
      <p:sp>
        <p:nvSpPr>
          <p:cNvPr id="20" name="Text 18"/>
          <p:cNvSpPr/>
          <p:nvPr/>
        </p:nvSpPr>
        <p:spPr>
          <a:xfrm>
            <a:off x="10661904" y="1773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253984" y="2395728"/>
            <a:ext cx="318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US$7.6bn of semis loans in a one-industry-heavy market. Syndicate members already cap single-sector exposure.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66928" y="3840480"/>
            <a:ext cx="3550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66928" y="3840480"/>
            <a:ext cx="3550920" cy="8229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041648"/>
            <a:ext cx="3185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&amp; physical limits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157728" y="4059936"/>
            <a:ext cx="777240" cy="29260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26" name="Text 24"/>
          <p:cNvSpPr/>
          <p:nvPr/>
        </p:nvSpPr>
        <p:spPr>
          <a:xfrm>
            <a:off x="3157728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49808" y="4681728"/>
            <a:ext cx="318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Taipower froze new 5MW+ data-centre power approvals north of Taoyuan since 2024.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19016" y="3840480"/>
            <a:ext cx="3550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319016" y="3840480"/>
            <a:ext cx="3550920" cy="8229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0" name="Text 28"/>
          <p:cNvSpPr/>
          <p:nvPr/>
        </p:nvSpPr>
        <p:spPr>
          <a:xfrm>
            <a:off x="4501896" y="4041648"/>
            <a:ext cx="3185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Geopolitics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909816" y="4059936"/>
            <a:ext cx="777240" cy="29260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2" name="Text 30"/>
          <p:cNvSpPr/>
          <p:nvPr/>
        </p:nvSpPr>
        <p:spPr>
          <a:xfrm>
            <a:off x="6909816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01896" y="4681728"/>
            <a:ext cx="318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Taiwan concentration carries cross-strait and US–China tech-war tail risk no spread fully compensates.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8071104" y="3840480"/>
            <a:ext cx="355092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8071104" y="3840480"/>
            <a:ext cx="3550920" cy="82296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6" name="Text 34"/>
          <p:cNvSpPr/>
          <p:nvPr/>
        </p:nvSpPr>
        <p:spPr>
          <a:xfrm>
            <a:off x="8253984" y="4041648"/>
            <a:ext cx="3185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Refinancing &amp; rate/FX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10661904" y="4059936"/>
            <a:ext cx="777240" cy="292608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38" name="Text 36"/>
          <p:cNvSpPr/>
          <p:nvPr/>
        </p:nvSpPr>
        <p:spPr>
          <a:xfrm>
            <a:off x="10661904" y="4059936"/>
            <a:ext cx="777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253984" y="4681728"/>
            <a:ext cx="3185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Short-tenor deals must refinance into whatever H2'26 / 2027 looks like; USD tranches add rate &amp; FX risk.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Futurum / Futuriom (AI capex), Goldman Sachs, IFR (Taiwan data-centre risks).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B2E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H2 2026 the tipping point?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394960" cy="182880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66928" y="1463040"/>
            <a:ext cx="68580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795528" y="15910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 case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95528" y="193852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multi-year AI build-out; shortages “persist for several years” (Huang); deficits into 2027; even cash-rich names financing capacity.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36208" y="1463040"/>
            <a:ext cx="5385816" cy="1828800"/>
          </a:xfrm>
          <a:prstGeom prst="rect">
            <a:avLst/>
          </a:prstGeom>
          <a:solidFill>
            <a:srgbClr val="F4F6F9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36208" y="1463040"/>
            <a:ext cx="68580" cy="1828800"/>
          </a:xfrm>
          <a:prstGeom prst="rect">
            <a:avLst/>
          </a:prstGeom>
          <a:solidFill>
            <a:srgbClr val="B7791F"/>
          </a:solidFill>
          <a:ln/>
        </p:spPr>
      </p:sp>
      <p:sp>
        <p:nvSpPr>
          <p:cNvPr id="10" name="Text 8"/>
          <p:cNvSpPr/>
          <p:nvPr/>
        </p:nvSpPr>
        <p:spPr>
          <a:xfrm>
            <a:off x="6464808" y="1591056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 case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64808" y="1938528"/>
            <a:ext cx="49834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Top-of-cycle memory, hyperscaler capex far outrunning revenue, sector-exposure caps, and a market rushing because “nobody knows what H2 looks like.”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566928" y="347472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E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to ask our supervisor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566928" y="3886200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3886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849624"/>
            <a:ext cx="10597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is CTBC thinking about single-sector (semis) exposure caps — lean in to win share, or turn selective like the participant banks?</a:t>
            </a:r>
            <a:endParaRPr lang="en-US" sz="1280" dirty="0"/>
          </a:p>
        </p:txBody>
      </p:sp>
      <p:sp>
        <p:nvSpPr>
          <p:cNvPr id="16" name="Shape 14"/>
          <p:cNvSpPr/>
          <p:nvPr/>
        </p:nvSpPr>
        <p:spPr>
          <a:xfrm>
            <a:off x="566928" y="4489704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448970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4453128"/>
            <a:ext cx="10597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we underwrite a memory name that was loss-making for 10 quarters and is now hugely profitable — what through-cycle assumptions?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566928" y="5093208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" y="50932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05840" y="5056632"/>
            <a:ext cx="10597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We're sole MLAB on Macquarie Europe and a lead on VPBank &amp; HDBank — chase yield cross-border, or deepen the Taiwan franchise?</a:t>
            </a:r>
            <a:endParaRPr lang="en-US" sz="1280" dirty="0"/>
          </a:p>
        </p:txBody>
      </p:sp>
      <p:sp>
        <p:nvSpPr>
          <p:cNvPr id="22" name="Shape 20"/>
          <p:cNvSpPr/>
          <p:nvPr/>
        </p:nvSpPr>
        <p:spPr>
          <a:xfrm>
            <a:off x="566928" y="5696712"/>
            <a:ext cx="292608" cy="29260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5696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" y="5660136"/>
            <a:ext cx="105978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80" dirty="0">
                <a:solidFill>
                  <a:srgbClr val="1321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H2 is the tipping point, do we want to be the lead getting deals done fast, or the participant waiting for wider pricing?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566928" y="644652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B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contrarian angle worth testing: win the mandates but syndicate down the hold — capture fees, limit balance-sheet exposure.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E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7772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FRAMEWORK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66928" y="1143000"/>
            <a:ext cx="1105509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Sort every borrower on two axes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66928" y="2103120"/>
            <a:ext cx="5394960" cy="1554480"/>
          </a:xfrm>
          <a:prstGeom prst="rect">
            <a:avLst/>
          </a:prstGeom>
          <a:solidFill>
            <a:srgbClr val="103D63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2286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Structural or cyclical?  </a:t>
            </a:r>
            <a:pPr indent="0" marL="0">
              <a:buNone/>
            </a:pPr>
            <a:r>
              <a:rPr lang="en-US" sz="14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credit improvement here to stay, or just this cycle's price spike?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36208" y="2103120"/>
            <a:ext cx="5385816" cy="1554480"/>
          </a:xfrm>
          <a:prstGeom prst="rect">
            <a:avLst/>
          </a:prstGeom>
          <a:solidFill>
            <a:srgbClr val="103D63"/>
          </a:solidFill>
          <a:ln w="12700">
            <a:solidFill>
              <a:srgbClr val="DDE4EC"/>
            </a:solidFill>
            <a:prstDash val="solid"/>
          </a:ln>
          <a:effectLst>
            <a:outerShdw sx="100000" sy="100000" kx="0" ky="0" algn="bl" rotWithShape="0" blurRad="88900" dist="38100" dir="8100000">
              <a:srgbClr val="0B2E4F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10528" y="2286000"/>
            <a:ext cx="4937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Where in the chain?  </a:t>
            </a:r>
            <a:pPr indent="0" marL="0">
              <a:buNone/>
            </a:pPr>
            <a:r>
              <a:rPr lang="en-US" sz="1400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demand (packaging, foundry) vs volatile commodity pricing (memory)?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886200"/>
            <a:ext cx="1105509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FE9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Packaging / foundry (ASE, TSMC) = more durable.  Commodity memory = more cyclical.  That 2×2 organises the whole opportunity set.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4709160"/>
            <a:ext cx="11055096" cy="0"/>
          </a:xfrm>
          <a:prstGeom prst="line">
            <a:avLst/>
          </a:prstGeom>
          <a:noFill/>
          <a:ln w="12700">
            <a:solidFill>
              <a:srgbClr val="2A4A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892040"/>
            <a:ext cx="11055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question to leave with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66928" y="5257800"/>
            <a:ext cx="11055096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Win the league-table share now — or protect the balance sheet against a top-of-cycle, single-geography, single-sector bet?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66928" y="6355080"/>
            <a:ext cx="1105509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DB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as CTBC internship study material  ·  June 2026  ·  Sources: IFR / LSEG LPC, TrendForce, company reporting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boom drives Taiwan lending</dc:title>
  <dc:subject>PptxGenJS Presentation</dc:subject>
  <dc:creator>CTBC Internship Briefing</dc:creator>
  <cp:lastModifiedBy>CTBC Internship Briefing</cp:lastModifiedBy>
  <cp:revision>1</cp:revision>
  <dcterms:created xsi:type="dcterms:W3CDTF">2026-06-16T07:51:59Z</dcterms:created>
  <dcterms:modified xsi:type="dcterms:W3CDTF">2026-06-16T07:51:59Z</dcterms:modified>
</cp:coreProperties>
</file>